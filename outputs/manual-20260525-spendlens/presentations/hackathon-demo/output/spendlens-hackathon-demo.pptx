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fec4b58e9a485f" /><Relationship Type="http://schemas.openxmlformats.org/officeDocument/2006/relationships/extended-properties" Target="/docProps/app.xml" Id="R5f1b97ad122d4e30" /><Relationship Type="http://schemas.openxmlformats.org/officeDocument/2006/relationships/officeDocument" Target="/ppt/presentation.xml" Id="R222aa08dddc04af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a55d416d7e44098"/>
  </p:sldMasterIdLst>
  <p:notesMasterIdLst>
    <p:notesMasterId xmlns:r="http://schemas.openxmlformats.org/officeDocument/2006/relationships" r:id="R9acb111466434174"/>
  </p:notesMasterIdLst>
  <p:sldIdLst>
    <p:sldId xmlns:r="http://schemas.openxmlformats.org/officeDocument/2006/relationships" id="256" r:id="R61107a475e7a41bf"/>
    <p:sldId xmlns:r="http://schemas.openxmlformats.org/officeDocument/2006/relationships" id="257" r:id="R788136d251c34fc5"/>
    <p:sldId xmlns:r="http://schemas.openxmlformats.org/officeDocument/2006/relationships" id="258" r:id="Rc604bd26b5df49c3"/>
    <p:sldId xmlns:r="http://schemas.openxmlformats.org/officeDocument/2006/relationships" id="259" r:id="Rf5b668ec5fe643c1"/>
    <p:sldId xmlns:r="http://schemas.openxmlformats.org/officeDocument/2006/relationships" id="260" r:id="R410ba64aa9ff45ee"/>
    <p:sldId xmlns:r="http://schemas.openxmlformats.org/officeDocument/2006/relationships" id="261" r:id="R8fb94e5a40414bcc"/>
    <p:sldId xmlns:r="http://schemas.openxmlformats.org/officeDocument/2006/relationships" id="262" r:id="R54af41b9e26b4b46"/>
    <p:sldId xmlns:r="http://schemas.openxmlformats.org/officeDocument/2006/relationships" id="263" r:id="Raaaec56454e3482f"/>
    <p:sldId xmlns:r="http://schemas.openxmlformats.org/officeDocument/2006/relationships" id="264" r:id="R2b5abd52a3634c3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55d416d7e44098" /><Relationship Type="http://schemas.openxmlformats.org/officeDocument/2006/relationships/theme" Target="/ppt/theme/theme1.xml" Id="R8071a89c140b41d3" /><Relationship Type="http://schemas.openxmlformats.org/officeDocument/2006/relationships/notesMaster" Target="/ppt/notesMasters/notesMaster1.xml" Id="R9acb111466434174" /><Relationship Type="http://schemas.openxmlformats.org/officeDocument/2006/relationships/presProps" Target="/ppt/presProps.xml" Id="R349eacfe7fe545f2" /><Relationship Type="http://schemas.openxmlformats.org/officeDocument/2006/relationships/viewProps" Target="/ppt/viewProps.xml" Id="Rab6c5de33d1145a5" /><Relationship Type="http://schemas.openxmlformats.org/officeDocument/2006/relationships/tableStyles" Target="/ppt/tableStyles.xml" Id="R2b73e59836db4e99" /><Relationship Type="http://schemas.openxmlformats.org/officeDocument/2006/relationships/slide" Target="/ppt/slides/slide1.xml" Id="R61107a475e7a41bf" /><Relationship Type="http://schemas.openxmlformats.org/officeDocument/2006/relationships/slide" Target="/ppt/slides/slide2.xml" Id="R788136d251c34fc5" /><Relationship Type="http://schemas.openxmlformats.org/officeDocument/2006/relationships/slide" Target="/ppt/slides/slide3.xml" Id="Rc604bd26b5df49c3" /><Relationship Type="http://schemas.openxmlformats.org/officeDocument/2006/relationships/slide" Target="/ppt/slides/slide4.xml" Id="Rf5b668ec5fe643c1" /><Relationship Type="http://schemas.openxmlformats.org/officeDocument/2006/relationships/slide" Target="/ppt/slides/slide5.xml" Id="R410ba64aa9ff45ee" /><Relationship Type="http://schemas.openxmlformats.org/officeDocument/2006/relationships/slide" Target="/ppt/slides/slide6.xml" Id="R8fb94e5a40414bcc" /><Relationship Type="http://schemas.openxmlformats.org/officeDocument/2006/relationships/slide" Target="/ppt/slides/slide7.xml" Id="R54af41b9e26b4b46" /><Relationship Type="http://schemas.openxmlformats.org/officeDocument/2006/relationships/slide" Target="/ppt/slides/slide8.xml" Id="Raaaec56454e3482f" /><Relationship Type="http://schemas.openxmlformats.org/officeDocument/2006/relationships/slide" Target="/ppt/slides/slide9.xml" Id="R2b5abd52a3634c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4773f59d454c481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6dea74786a4337" /><Relationship Type="http://schemas.openxmlformats.org/officeDocument/2006/relationships/notesMaster" Target="/ppt/notesMasters/notesMaster1.xml" Id="R1b2bf05f0bc345a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9a7d95839a04922" /><Relationship Type="http://schemas.openxmlformats.org/officeDocument/2006/relationships/notesMaster" Target="/ppt/notesMasters/notesMaster1.xml" Id="Ree5772524c5948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97812b3c3b4532" /><Relationship Type="http://schemas.openxmlformats.org/officeDocument/2006/relationships/notesMaster" Target="/ppt/notesMasters/notesMaster1.xml" Id="Rd9f5505e442043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513abbb7b14473" /><Relationship Type="http://schemas.openxmlformats.org/officeDocument/2006/relationships/notesMaster" Target="/ppt/notesMasters/notesMaster1.xml" Id="R4e453442f6ae4e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617de6608c48f9" /><Relationship Type="http://schemas.openxmlformats.org/officeDocument/2006/relationships/notesMaster" Target="/ppt/notesMasters/notesMaster1.xml" Id="R67baf0f3655447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21d680a068a400d" /><Relationship Type="http://schemas.openxmlformats.org/officeDocument/2006/relationships/notesMaster" Target="/ppt/notesMasters/notesMaster1.xml" Id="R4671cdd2aee144a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7d4e53439f4930" /><Relationship Type="http://schemas.openxmlformats.org/officeDocument/2006/relationships/notesMaster" Target="/ppt/notesMasters/notesMaster1.xml" Id="Re0edfdf9c7c348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aea263aebe64189" /><Relationship Type="http://schemas.openxmlformats.org/officeDocument/2006/relationships/notesMaster" Target="/ppt/notesMasters/notesMaster1.xml" Id="R4fc7837a423044a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3e0a900bc2149fe" /><Relationship Type="http://schemas.openxmlformats.org/officeDocument/2006/relationships/notesMaster" Target="/ppt/notesMasters/notesMaster1.xml" Id="R4b12d154e6114f4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587445908b426e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d73718d6fdb483d" /><Relationship Type="http://schemas.openxmlformats.org/officeDocument/2006/relationships/slideLayout" Target="/ppt/slideLayouts/slideLayout2.xml" Id="R8502a51167934a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02a51167934a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7e581aeddb4c34" /><Relationship Type="http://schemas.openxmlformats.org/officeDocument/2006/relationships/notesSlide" Target="/ppt/notesSlides/notesSlide1.xml" Id="R6127fad7823444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8363e2821664904" /><Relationship Type="http://schemas.openxmlformats.org/officeDocument/2006/relationships/notesSlide" Target="/ppt/notesSlides/notesSlide2.xml" Id="Rbe927fa45a5141d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a285c692b914252" /><Relationship Type="http://schemas.openxmlformats.org/officeDocument/2006/relationships/notesSlide" Target="/ppt/notesSlides/notesSlide3.xml" Id="R7a730ca54db649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cfbad6d2424cb2" /><Relationship Type="http://schemas.openxmlformats.org/officeDocument/2006/relationships/notesSlide" Target="/ppt/notesSlides/notesSlide4.xml" Id="Rb2bae6f6a5d84c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cdac21990884b91" /><Relationship Type="http://schemas.openxmlformats.org/officeDocument/2006/relationships/notesSlide" Target="/ppt/notesSlides/notesSlide5.xml" Id="R0ff2e491871849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c3229c389694eff" /><Relationship Type="http://schemas.openxmlformats.org/officeDocument/2006/relationships/notesSlide" Target="/ppt/notesSlides/notesSlide6.xml" Id="Rffbe89adbd2d47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1792bd9d71146e1" /><Relationship Type="http://schemas.openxmlformats.org/officeDocument/2006/relationships/image" Target="/ppt/media/image.jpeg" Id="R41064b9b2cef491f" /><Relationship Type="http://schemas.openxmlformats.org/officeDocument/2006/relationships/notesSlide" Target="/ppt/notesSlides/notesSlide7.xml" Id="R494b530842d5419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67e5dfe32fa4027" /><Relationship Type="http://schemas.openxmlformats.org/officeDocument/2006/relationships/notesSlide" Target="/ppt/notesSlides/notesSlide8.xml" Id="Rd80836ed4cef42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a09f1e67fc46ca" /><Relationship Type="http://schemas.openxmlformats.org/officeDocument/2006/relationships/notesSlide" Target="/ppt/notesSlides/notesSlide9.xml" Id="R052d3307d92b445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E287BD-C3B3-4C15-92D8-6370B4D9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EEF4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8451B9-2FE8-4967-8647-0DF4D188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F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D4F741-7D43-452E-9002-8D0F0A2B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-762000"/>
            <a:ext cx="4953000" cy="838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25DA6E-3F6A-4C61-AF23-372FEE35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819150"/>
            <a:ext cx="3143250" cy="4762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DBF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1AE3D9-FED5-488E-B2F5-056DAD2EC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314450"/>
            <a:ext cx="2381250" cy="952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B79980-EAC2-47F6-A289-955EAC465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504950"/>
            <a:ext cx="19240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Total spend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A2CEE9-2BAB-489D-B026-D8A98287E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809750"/>
            <a:ext cx="192405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2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₹1,475.79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9E6F9E-8C24-411A-BA8D-6B2C78FD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57450"/>
            <a:ext cx="2381250" cy="952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A1648C-2D2D-4332-93E9-73FB4636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47950"/>
            <a:ext cx="19240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Top category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CB87C0-BAC3-451D-BFC0-004CF9F00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52750"/>
            <a:ext cx="192405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2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Travel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917054-A51F-4C91-A85B-998BA122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600450"/>
            <a:ext cx="2381250" cy="952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15BFB4-B74D-42EB-BF72-010B800B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90950"/>
            <a:ext cx="19240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Receipts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66A2D7-73C1-47F3-A22B-81F99273A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95750"/>
            <a:ext cx="192405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2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4 processed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EF9048-9D4D-4EE2-BFCA-A9F833A4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953000" cy="666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40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SpendLens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75F3A4-0968-4ED9-AC22-EB9820D9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81125"/>
            <a:ext cx="5905500" cy="4000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Intelligent Expense Categorizer with OCR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D12AB6-3674-41FD-8E4F-87F21BC6A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95500"/>
            <a:ext cx="5905500" cy="8572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6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A Django monolith that turns receipt images into structured expenses, auto-categories, and dashboard insights.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B8BA46-3290-4152-9B9A-30A21F46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97155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AF8E9D-5F7D-4F85-8DA5-1A9A58095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00425"/>
            <a:ext cx="7048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Django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62C162-D16B-43A9-8BAD-A6F61EC9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3333750"/>
            <a:ext cx="140970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B5CA0E-2181-48AF-890E-A974474A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400425"/>
            <a:ext cx="11430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Tesseract OCR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DA72494-F4E9-4FC4-AB85-43598F9FD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33750"/>
            <a:ext cx="106680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285419-8DD1-47D1-9E80-D0E7468E0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400425"/>
            <a:ext cx="8001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Chart.js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F21F4A-B5CE-4125-89F6-5C2E7421A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33750"/>
            <a:ext cx="91440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355315F-3A6B-473F-88A7-EA0C3837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3400425"/>
            <a:ext cx="6477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SQLite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575DF6-D765-4E5D-9501-7C7062CFE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810250"/>
            <a:ext cx="34290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Hackathon Demo Deck</a:t>
            </a:r>
          </a:p>
        </p:txBody>
      </p:sp>
    </p:spTree>
    <p:extLst>
      <p:ext uri="{BB962C8B-B14F-4D97-AF65-F5344CB8AC3E}">
        <p14:creationId xmlns:p14="http://schemas.microsoft.com/office/powerpoint/2010/main" val="60791683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15EDBD-86C7-4115-9EBB-8BD663038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94553A-7D5D-4DF0-AA6A-F50DDD10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4B6229-501E-4E88-A87B-793E73FD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95300"/>
            <a:ext cx="91440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AFB32B-FB7E-4665-B7AD-AE67B63E8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571500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sz="9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88260F-5B5D-4214-830E-570625BDF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429500" cy="952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Manual expense tracking breaks down at receipt scale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E0801C-8A71-4C9C-80D8-7B7368739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858000" cy="8382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Users collect receipts across food, travel, shopping, medical, groceries, and bills. Manually reading every receipt and tagging expenses is slow, inconsistent, and easy to abandon.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D1C076-67B0-4D4A-A293-84A6F6C9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7239000" cy="647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B275F2-6E6A-4F18-86B9-6C71E7FA7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86125"/>
            <a:ext cx="228600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Unstructured inputs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3ABBBE-1C79-4128-9C8C-D8908706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305175"/>
            <a:ext cx="40957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Photos, screenshots, and PDFs arrive in different layouts.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33986-5603-46A3-A39D-EB8EF430D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7239000" cy="647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E1030F-9B81-44B9-A13C-53C7188F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62425"/>
            <a:ext cx="228600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Human categorization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1DD2B8-B0F8-41C4-B37F-4762A605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181475"/>
            <a:ext cx="40957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Merchant names and keywords need consistent mapping.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C41390-C819-4947-95CD-EE91FE39E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7239000" cy="647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F991EC-D2E0-40B7-A456-C0FEC7095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038725"/>
            <a:ext cx="228600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No instant visibility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C6EBC6-958E-4F05-AA35-7A38893A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057775"/>
            <a:ext cx="409575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Users need summary totals, not another spreadsheet.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8BFF48-D8BA-4F51-B142-F8D76605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476500" cy="3429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8DF739-E1FA-49A0-A050-6F933501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00250"/>
            <a:ext cx="19050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User story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43DA68-C5EE-4CD7-8C39-420308F2D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1905000" cy="1428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725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“I want my daily receipts auto-categorized so I don’t manually track expenses.”</a:t>
            </a:r>
          </a:p>
        </p:txBody>
      </p:sp>
    </p:spTree>
    <p:extLst>
      <p:ext uri="{BB962C8B-B14F-4D97-AF65-F5344CB8AC3E}">
        <p14:creationId xmlns:p14="http://schemas.microsoft.com/office/powerpoint/2010/main" val="8190370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05BF29-4F0A-4FEC-A33A-5CE086B5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DC6DF4-2FCE-4573-B2C6-8F12A83E5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D3D585-5F80-4111-A5F1-1AF642697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95300"/>
            <a:ext cx="91440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E3B2B7-602B-4D44-A83D-5D2ED763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571500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sz="9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B19D1C-65E7-4804-A7D1-C4EB60A4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429500" cy="952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Upload once. OCR, parse, categorize, and visualize instantly.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59E132-1562-40AB-9C7D-8D03F0324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676400" cy="1428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6E41FB-B70C-4CC7-92CF-7CC4BB1A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400050" cy="4000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C96DEB-138A-427B-884E-3536398D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705100"/>
            <a:ext cx="17145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9C7D7E-D0CD-4511-8561-DD119DA27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81350"/>
            <a:ext cx="12382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Upload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58E3C4-BA96-4451-8DA2-54FE9161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12573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Receipt image/PDF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5A84C4-17DE-4A05-BFB9-FD19E597F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956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60F500-6499-4284-BA55-5999BAE7A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048000"/>
            <a:ext cx="95250" cy="95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2E5ABD-D693-4B32-BA53-014B7DD28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381250"/>
            <a:ext cx="1676400" cy="1428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C14B97-CE6A-4AD6-BA7D-8230E7A8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609850"/>
            <a:ext cx="400050" cy="4000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0BBFBD-B813-41D3-8611-2568DCE31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2705100"/>
            <a:ext cx="17145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90AC1B-A449-41C5-934D-54EBBA3F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81350"/>
            <a:ext cx="12382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OCR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3171B7-BA13-4DB7-9512-CAB070ECB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467100"/>
            <a:ext cx="12573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Extract raw text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155955-5704-4C9B-971D-DFBD30BC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956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8292AF-B473-425C-9DD1-25A9E1CC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048000"/>
            <a:ext cx="95250" cy="95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D9C66F-EFA9-41E1-932F-264187D35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81250"/>
            <a:ext cx="1676400" cy="1428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8452F0-9232-4733-9160-57366E95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609850"/>
            <a:ext cx="400050" cy="4000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00EE17-DE39-4654-8772-32CC704C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705100"/>
            <a:ext cx="17145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5D5A1D-387B-4AAD-B5E2-6F1F35ED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181350"/>
            <a:ext cx="12382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Parse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9E307A-E6D5-467C-9B12-8A65FDB1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467100"/>
            <a:ext cx="12573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Merchant, amount, date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F9F65D-E000-41EE-9AF6-443C74B4D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956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CE3D9E-EB94-419C-8AD3-E898CBDC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48000"/>
            <a:ext cx="95250" cy="95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04C57B-605A-4AD3-BBC0-E592EA047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81250"/>
            <a:ext cx="1676400" cy="1428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483D6A0-8C39-4BCE-86A5-EDCF9CBA5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09850"/>
            <a:ext cx="400050" cy="4000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8C5DB65-F5DB-46A6-946C-013970DBF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705100"/>
            <a:ext cx="17145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4188A53-FEF8-43D3-9168-248A7E27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81350"/>
            <a:ext cx="12382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Categorize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864D61D-0EAA-4542-B4F2-3AC473C57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67100"/>
            <a:ext cx="12573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Merchant + keyword rules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BB05D3-6995-48F7-A43F-180B4D1BD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9562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ABC95BF-736C-487E-8E0B-6E882409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48000"/>
            <a:ext cx="95250" cy="95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F08FFD7-841C-49A1-A0E4-BD71944E8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81250"/>
            <a:ext cx="1676400" cy="1428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D925189-FC08-497C-BD39-AC223A966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609850"/>
            <a:ext cx="400050" cy="4000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AB2C4B-C5E5-4054-85D3-AC04CD6A6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705100"/>
            <a:ext cx="171450" cy="1524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064809B-92F2-4F0D-9025-A8A29B5E4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181350"/>
            <a:ext cx="12382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6DA323-7569-418E-9E76-4C369F96C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67100"/>
            <a:ext cx="12573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0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Charts and insights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C475E47-364C-4A9E-A8A8-D242221E7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762500"/>
            <a:ext cx="942975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47E030-5561-46C8-9BBD-6D4A69C5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33950"/>
            <a:ext cx="885825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Built as a Django monolith to keep setup simple for a 2–3 hour hackathon: templates for frontend, views/models for backend, SQLite for persistence, and Chart.js for interactive visuals.</a:t>
            </a:r>
          </a:p>
        </p:txBody>
      </p:sp>
    </p:spTree>
    <p:extLst>
      <p:ext uri="{BB962C8B-B14F-4D97-AF65-F5344CB8AC3E}">
        <p14:creationId xmlns:p14="http://schemas.microsoft.com/office/powerpoint/2010/main" val="84313710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C5B2253-E8D7-49EF-99B2-4EB6764BC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768B90-0F26-486E-8D6B-0B06669FA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7AE4B4-C1D1-42A8-A60E-7B1BF1F7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95300"/>
            <a:ext cx="91440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F3955B-84D2-4BBC-A714-4581AD520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571500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sz="9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A83734-BF19-4330-8C51-A373EFD7B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429500" cy="952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A compact monolith with clean backend responsibilities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A9423F-04B1-4B0F-AE50-ADFD736E4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381250" cy="1238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7B7F8B-6076-4F7A-9DE0-1D28AE18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238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EDEDEA-F334-4DD4-9D17-1C3EE9C0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1952625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Django Templates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B951D1-293D-48C0-A02A-2C29A0F2F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1905000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Upload + review + dashboard UI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1C1912-34E8-46BB-AF8D-D4A07E39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90750"/>
            <a:ext cx="2381250" cy="1238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83E56E-03A4-44FC-AE3E-54ABCA8F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190750"/>
            <a:ext cx="238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70FFC4-8088-42C5-86D7-B357045B4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514600"/>
            <a:ext cx="1952625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Views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C7365B-875A-4751-B6B0-E373C469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857500"/>
            <a:ext cx="1905000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Upload flow, pending review, save/delete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01CFDE-D324-49C7-AD09-D456B54F6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90750"/>
            <a:ext cx="2381250" cy="1238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6C5FC4-CECF-4616-BEC9-64448C1D7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90750"/>
            <a:ext cx="238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FC4C0E-59A4-48FB-ABA3-A0374EB70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14600"/>
            <a:ext cx="1952625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OCR Module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45503B7-0902-4E25-993A-0810D670D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57500"/>
            <a:ext cx="1905000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Tesseract + PDF text extraction fallback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7CBCF5-CC2F-4806-9AFB-1FC956B00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90750"/>
            <a:ext cx="2381250" cy="1238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457A6B-86FF-4AB4-AA21-FD72D402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190750"/>
            <a:ext cx="238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4FF588-27CE-491D-AFE2-B6D8AE756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14600"/>
            <a:ext cx="1952625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Categorizer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AB2765-7A68-4105-9F3E-4562DE0DF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57500"/>
            <a:ext cx="1905000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Indian merchant mapping + keyword rules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2E2CE2-6359-4429-9347-E087FEAAF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333875"/>
            <a:ext cx="2381250" cy="1238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AD251E-F3E3-424D-B5E4-FABFDCABB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333875"/>
            <a:ext cx="2381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E31384-3660-4E86-9C06-51EB21B8F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657725"/>
            <a:ext cx="1952625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00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SQLite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5C35A5D-406B-483D-BE2E-D129E8796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000625"/>
            <a:ext cx="1905000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Expense records and uploaded receipt paths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8115F08-522D-4E78-8911-7974935C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1940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04616A3-B43A-40B5-BAC3-E0A16606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71775"/>
            <a:ext cx="95250" cy="95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2694301-040A-4E57-9E0A-32363D60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81940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94B3A48-04C1-448D-B269-C72AB690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771775"/>
            <a:ext cx="95250" cy="95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82BB81-C587-4EDB-A9CF-5BED47F82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1940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9FC1F3-24CA-48DC-A7A1-E71073C78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771775"/>
            <a:ext cx="95250" cy="95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FC44F2-C141-439D-92F0-8C115D84D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29000"/>
            <a:ext cx="1143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33C9B9F-A724-43FD-BC33-3FD0A691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286250"/>
            <a:ext cx="95250" cy="95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24DD42-D132-48FD-92DA-A10AD134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29000"/>
            <a:ext cx="7620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E46466-6F67-4280-9FA3-D1E54726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4286250"/>
            <a:ext cx="95250" cy="95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F7802F-5690-4DBC-A120-1E954F154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905500"/>
            <a:ext cx="66675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sz="15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Single repo. Minimal moving parts. Easy to explain to judges.</a:t>
            </a:r>
          </a:p>
        </p:txBody>
      </p:sp>
    </p:spTree>
    <p:extLst>
      <p:ext uri="{BB962C8B-B14F-4D97-AF65-F5344CB8AC3E}">
        <p14:creationId xmlns:p14="http://schemas.microsoft.com/office/powerpoint/2010/main" val="197136894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7A29ACC-901C-4D1D-B968-955249A6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6B2C0B-8FB5-4ACC-9F52-0C381A35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OCR + PARSING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D5CBB-1697-4B16-BD37-E619B394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95300"/>
            <a:ext cx="91440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DD260C-2D97-4B35-B78E-6BC10EA9B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571500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sz="9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2756EC-2748-41B3-851C-ECE0B5CBA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429500" cy="952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OCR converts messy receipt layouts into usable fields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081BC5-4162-4AFE-8BDE-7BAD21AA0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4095750" cy="32575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9084BD-622B-47C6-B207-79B9DEFA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47900"/>
            <a:ext cx="23812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Raw OCR 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D7E8DC-816D-4137-81EF-FF22447E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3429000" cy="16192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Uber March 10, 2025</a:t>
            </a:r>
          </a:p>
          <a:p xmlns:a="http://schemas.openxmlformats.org/drawingml/2006/main">
            <a:r>
              <a:rPr sz="13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Thanks for tipping, Nisha</a:t>
            </a:r>
          </a:p>
          <a:p xmlns:a="http://schemas.openxmlformats.org/drawingml/2006/main">
            <a:r>
              <a:rPr sz="13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Total %311.93</a:t>
            </a:r>
          </a:p>
          <a:p xmlns:a="http://schemas.openxmlformats.org/drawingml/2006/main">
            <a:r>
              <a:rPr sz="13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Trip Charge 261.93</a:t>
            </a:r>
          </a:p>
          <a:p xmlns:a="http://schemas.openxmlformats.org/drawingml/2006/main">
            <a:r>
              <a:rPr sz="13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Subtotal 261.93</a:t>
            </a:r>
          </a:p>
          <a:p xmlns:a="http://schemas.openxmlformats.org/drawingml/2006/main">
            <a:r>
              <a:rPr sz="1350" b="0">
                <a:solidFill>
                  <a:srgbClr val="0F172A"/>
                </a:solidFill>
                <a:latin typeface="Aptos"/>
                <a:ea typeface="Aptos"/>
                <a:cs typeface="Aptos"/>
              </a:rPr>
              <a:t>Tip 50.00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C1ACF5-B2CE-4747-9C09-6BEC08F7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000250"/>
            <a:ext cx="5810250" cy="32575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E142FB-34F2-4738-A164-A5E61818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247900"/>
            <a:ext cx="23812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Parsed output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EC290E-3E5B-4A77-B153-B99360AD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724150"/>
            <a:ext cx="1476375" cy="857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86A380-4AE7-4912-A1C3-389D36441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14650"/>
            <a:ext cx="1019175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Merchant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73EB9B-D037-4523-9DEC-D76A75D63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19450"/>
            <a:ext cx="1019175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2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Uber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C9154A-520A-48E3-B46E-34A1C2D4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724150"/>
            <a:ext cx="1476375" cy="857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D2534B-DF25-4091-920C-F1385321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14650"/>
            <a:ext cx="1019175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Amount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39EFCC-A024-4810-B174-B38EBAB08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19450"/>
            <a:ext cx="1019175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2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₹311.93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13F70E-2F2B-47DD-9236-C4612F78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724150"/>
            <a:ext cx="1476375" cy="857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FEBA5F-3EE7-47EE-A0E8-6FCA50FA0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14650"/>
            <a:ext cx="1019175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Date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2377E1A-35EE-4533-8BB7-451FA7129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219450"/>
            <a:ext cx="1019175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250" b="1">
                <a:solidFill>
                  <a:srgbClr val="EA580C"/>
                </a:solidFill>
                <a:latin typeface="Aptos"/>
                <a:ea typeface="Aptos"/>
                <a:cs typeface="Aptos"/>
              </a:rPr>
              <a:t>10 Mar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07D0CE-A981-4DC9-8535-C0F5847F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00500"/>
            <a:ext cx="4762500" cy="628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Parser handles OCR noise like `%311.93` when Tesseract misreads the rupee symbol, then normalizes the amount before categorization.</a:t>
            </a:r>
          </a:p>
        </p:txBody>
      </p:sp>
    </p:spTree>
    <p:extLst>
      <p:ext uri="{BB962C8B-B14F-4D97-AF65-F5344CB8AC3E}">
        <p14:creationId xmlns:p14="http://schemas.microsoft.com/office/powerpoint/2010/main" val="193784074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5C67D6-4C36-4935-A8C9-78AAA265F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F9DF6-7147-40B0-BA50-98D1FEBA2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CATEGORIZATION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188695-B6DA-4C91-B172-D7488440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95300"/>
            <a:ext cx="91440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B21B17-EC1B-47B9-94F8-26384C676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571500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sz="9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B98417-757B-4F7A-980E-0456278D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429500" cy="952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Specific merchant rules win before broad keyword rules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01038F-74D3-4AE8-BE8D-586ADA80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762500" cy="647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4E4C77-3814-435F-A42D-D8313FF24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57400"/>
            <a:ext cx="304800" cy="304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387D01-8554-4840-BE37-74233210D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028825"/>
            <a:ext cx="15240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Food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A9AFF7-30B6-4EB2-B4F3-716167A4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047875"/>
            <a:ext cx="22860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Swiggy, Zomato, Domino’s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3023DE-8649-498F-9E71-E9C94D7A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85950"/>
            <a:ext cx="4762500" cy="647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AA8A5F-353C-4053-9A15-9DC9FD06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57400"/>
            <a:ext cx="304800" cy="304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8A2777-1A75-47E3-B449-A3BF164C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28825"/>
            <a:ext cx="15240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Travel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EFB3B6-8406-4C63-A402-32A2F6B5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47875"/>
            <a:ext cx="22860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Uber, Ola, IRCTC, IndiGo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C37761-BC37-4193-8A74-7D27894EE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4762500" cy="647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00F423-3A02-431D-90FA-869CA6A57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304800" cy="304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9B5C40-419D-499B-947E-A377EED79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05125"/>
            <a:ext cx="15240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Shopping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6C173D-56D4-4EA4-BD58-5DFFF336C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24175"/>
            <a:ext cx="22860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Amazon, Flipkart, Myntra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FEB13C-2B8E-447F-AF9A-6AA7870DF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62250"/>
            <a:ext cx="4762500" cy="647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A8F433-2B7E-46F3-9AE2-E5FDDE9F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933700"/>
            <a:ext cx="304800" cy="304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6A11FC-790E-40DF-A85B-2E8B20DFA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05125"/>
            <a:ext cx="15240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Bills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7A3D25-8C6D-44E2-A5AE-C957046B7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24175"/>
            <a:ext cx="22860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Airtel, Jio, electricity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6B3E55-89F2-4535-8F13-FE3756E8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4762500" cy="647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597309-26DA-4E0A-8B67-C39A1C92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304800" cy="304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1036D9-561E-4A3E-862F-6CA50022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81425"/>
            <a:ext cx="15240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Medical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6A07A3-8D74-4DE8-9375-CD4672C39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800475"/>
            <a:ext cx="22860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Apollo Pharmacy, 1mg, MedPlus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26C080-C9CC-47F9-9BFB-60D244A59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38550"/>
            <a:ext cx="4762500" cy="647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49510C3-04EC-4DFF-93FA-C998DCAA8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304800" cy="304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580C"/>
          </a:solidFill>
          <a:ln xmlns:a="http://schemas.openxmlformats.org/drawingml/2006/main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BA4922-6E31-4034-94F3-57A602D0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81425"/>
            <a:ext cx="15240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Groceries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A97838-6181-4751-8649-85FCCA06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00475"/>
            <a:ext cx="22860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D Mart, Blinkit, Zepto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214E80-CA49-46FB-8143-188C1D8E7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4762500" cy="6477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EF194EB-8FA4-4334-B707-F5336A982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86300"/>
            <a:ext cx="304800" cy="304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53F896E-35E1-4F0B-97A5-96A795416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57725"/>
            <a:ext cx="15240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42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Entertainment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82C6460-FD8D-44B6-BD93-FCB22D1C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76775"/>
            <a:ext cx="22860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125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BookMyShow, PVR, Netflix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493AD4-D8EF-4B67-8653-98F13AE15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668000" cy="5143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270A4A-EB7A-4FBE-8A80-60055287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867400"/>
            <a:ext cx="98107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75" b="0">
                <a:solidFill>
                  <a:srgbClr val="1E40AF"/>
                </a:solidFill>
                <a:latin typeface="Aptos"/>
                <a:ea typeface="Aptos"/>
                <a:cs typeface="Aptos"/>
              </a:rPr>
              <a:t>Example fix: APOLLO PHARMACY contains “Lifestyle”, but Medical is prioritized before Shopping, so it resolves correctly.</a:t>
            </a:r>
          </a:p>
        </p:txBody>
      </p:sp>
    </p:spTree>
    <p:extLst>
      <p:ext uri="{BB962C8B-B14F-4D97-AF65-F5344CB8AC3E}">
        <p14:creationId xmlns:p14="http://schemas.microsoft.com/office/powerpoint/2010/main" val="201698226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864410B-4FA1-46C9-960F-53765570C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D93EF-6875-4287-9A65-6CFC86A9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PRODUCT DEMO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358F33-B94C-47FA-A1E1-21904FE51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95300"/>
            <a:ext cx="91440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00930A-34DF-4972-B6B2-42F8D72D8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571500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sz="9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EDF989-8EA2-436F-A650-BC09C39DF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6667500" cy="819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Dashboard gives immediate spend visibility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F96D03-5596-4721-A012-9FC69577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0200"/>
            <a:ext cx="6096000" cy="361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Clean upload/review flow plus category totals, filters, receipt table, and interactive chart.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064b9b2cef491f"/>
          <a:stretch xmlns:a="http://schemas.openxmlformats.org/drawingml/2006/main"/>
        </p:blipFill>
        <p:spPr>
          <a:xfrm xmlns:a="http://schemas.openxmlformats.org/drawingml/2006/main">
            <a:off x="1600450" y="2247900"/>
            <a:ext cx="2590299" cy="3619500"/>
          </a:xfrm>
          <a:prstGeom xmlns:a="http://schemas.openxmlformats.org/drawingml/2006/main" prst="roundRect">
            <a:avLst>
              <a:gd name="adj" fmla="val 263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979A05-5649-4FFE-BD35-B0CC823B8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266950"/>
            <a:ext cx="51435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FD1DC9-86D1-4E9A-A640-3D20E638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57450"/>
            <a:ext cx="17145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Demo 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72646-26CF-451B-982B-C878EE7E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81300"/>
            <a:ext cx="43815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4155"/>
                </a:solidFill>
                <a:latin typeface="Aptos"/>
                <a:ea typeface="Aptos"/>
                <a:cs typeface="Aptos"/>
              </a:rPr>
              <a:t>Upload receipt → Review fields → Save → Dashboard updates category totals and chart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16D6BA-ADDA-4D5A-B528-EE040FA0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476625"/>
            <a:ext cx="154305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215C8D-83A7-4329-A224-4BB8C0AE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667125"/>
            <a:ext cx="10858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OCR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5949A6-B1C6-4E80-AAE8-69EA46E6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71925"/>
            <a:ext cx="108585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25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Tesseract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878C50-CF0A-4A0B-A4B5-7135861F9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476625"/>
            <a:ext cx="154305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C59EE14-FE3A-473C-A9EC-6CF4EA6E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667125"/>
            <a:ext cx="10858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Rules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7D690A5-9BF7-4F88-96D3-7B7C775FF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971925"/>
            <a:ext cx="108585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250" b="1">
                <a:solidFill>
                  <a:srgbClr val="16A34A"/>
                </a:solidFill>
                <a:latin typeface="Aptos"/>
                <a:ea typeface="Aptos"/>
                <a:cs typeface="Aptos"/>
              </a:rPr>
              <a:t>Merchant-first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98058C-843A-4B67-B0E6-363EB968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476625"/>
            <a:ext cx="154305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F34067-8C93-4D58-ABB4-1DA0BFEE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667125"/>
            <a:ext cx="10858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75" b="1">
                <a:solidFill>
                  <a:srgbClr val="64748B"/>
                </a:solidFill>
                <a:latin typeface="Aptos"/>
                <a:ea typeface="Aptos"/>
                <a:cs typeface="Aptos"/>
              </a:rPr>
              <a:t>UI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5F22D5-0335-4FE4-B870-ABCE50391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971925"/>
            <a:ext cx="1085850" cy="4381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250" b="1">
                <a:solidFill>
                  <a:srgbClr val="DB2777"/>
                </a:solidFill>
                <a:latin typeface="Aptos"/>
                <a:ea typeface="Aptos"/>
                <a:cs typeface="Aptos"/>
              </a:rPr>
              <a:t>Chart.js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DFAC98-4FE7-4B50-BA37-9157E0453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762500"/>
            <a:ext cx="5143500" cy="8763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BFDBF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024D74-D6B4-42E7-A490-F213E067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00625"/>
            <a:ext cx="4572000" cy="3429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1E40AF"/>
                </a:solidFill>
                <a:latin typeface="Aptos"/>
                <a:ea typeface="Aptos"/>
                <a:cs typeface="Aptos"/>
              </a:rPr>
              <a:t>Save behavior was refined: processing creates a pending review; the expense is stored only after the user confirms.</a:t>
            </a:r>
          </a:p>
        </p:txBody>
      </p:sp>
    </p:spTree>
    <p:extLst>
      <p:ext uri="{BB962C8B-B14F-4D97-AF65-F5344CB8AC3E}">
        <p14:creationId xmlns:p14="http://schemas.microsoft.com/office/powerpoint/2010/main" val="3592091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ED319A-279D-40B7-A699-BD38B7F04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F8FA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C18D14-4C57-4D5D-AD96-3BE7CF2B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57150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900" b="1">
                <a:solidFill>
                  <a:srgbClr val="2563EB"/>
                </a:solidFill>
                <a:latin typeface="Aptos"/>
                <a:ea typeface="Aptos"/>
                <a:cs typeface="Aptos"/>
              </a:rPr>
              <a:t>IMPLEMENTATION QUALITY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EFAEF3-06CD-41F1-9A31-BD4D16415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95300"/>
            <a:ext cx="91440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C7D2FE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645F19-FE9B-44B7-9F7F-5FC95FE4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7550" y="571500"/>
            <a:ext cx="3810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/>
            <a:r>
              <a:rPr sz="900" b="1">
                <a:solidFill>
                  <a:srgbClr val="1E40A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A88944-3D78-433C-B258-86C592DAE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429500" cy="952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27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Small codebase, clear modules, demo-safe fallbacks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5DEC31-2EC0-44A0-896D-41C0B68E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4572000" cy="1085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10ABCC-14B6-4369-B023-C20E03C6E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62200"/>
            <a:ext cx="381000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Pending review 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1F474F-3B17-4AC8-8DEF-E06D43BF6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05100"/>
            <a:ext cx="38100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Upload processing no longer saves accidental rows.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E8DB29-5D43-4C2B-9446-2314935E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95500"/>
            <a:ext cx="4572000" cy="1085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2E051F-0BAC-4422-BC45-40D94069E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62200"/>
            <a:ext cx="381000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OCR diagnostics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C510B8-376A-4744-88EC-F04BB316D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05100"/>
            <a:ext cx="38100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`python manage.py check_ocr` tells teammates what is missing.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374D53-522E-4045-83C3-B187996E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24250"/>
            <a:ext cx="4572000" cy="1085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D93EEB-66A8-4DE6-A85C-688A5516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90950"/>
            <a:ext cx="381000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CLI fallback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FD320C-3B4E-41C1-883A-E19B2F03C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33850"/>
            <a:ext cx="38100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Uses Tesseract command even if Python OCR wrapper is unavailable.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EDDB65-8E21-4470-A71F-B3F280C7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24250"/>
            <a:ext cx="4572000" cy="1085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ED8C35-93C3-44BB-A642-D14346B56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90950"/>
            <a:ext cx="3810000" cy="247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1">
                <a:solidFill>
                  <a:srgbClr val="0F172A"/>
                </a:solidFill>
                <a:latin typeface="Aptos"/>
                <a:ea typeface="Aptos"/>
                <a:cs typeface="Aptos"/>
              </a:rPr>
              <a:t>Regression tests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9D0C06-0AF0-42AD-B858-96DAB121B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33850"/>
            <a:ext cx="3810000" cy="3238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Uber OCR noise, Apollo category priority, and save flow are covered.</a:t>
            </a:r>
          </a:p>
        </p:txBody>
      </p:sp>
    </p:spTree>
    <p:extLst>
      <p:ext uri="{BB962C8B-B14F-4D97-AF65-F5344CB8AC3E}">
        <p14:creationId xmlns:p14="http://schemas.microsoft.com/office/powerpoint/2010/main" val="179963676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49331C8-28EE-410A-A635-C831B6B40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040F10-5D5C-47BF-B369-B540A5F31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89962F-612E-465A-8347-2F9C24A9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0"/>
            <a:ext cx="4857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E293B"/>
          </a:solidFill>
          <a:ln xmlns:a="http://schemas.openxmlformats.org/drawingml/2006/main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4F372F-C83E-4762-A39A-B1698455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66750"/>
            <a:ext cx="4000500" cy="381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What we built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9F251B-596F-4E0A-9282-65BC783A6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57300"/>
            <a:ext cx="6477000" cy="1428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SpendLens makes receipts useful the moment they are uploaded.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4AD0EA-DA35-4DA9-858F-2AEE4EF68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5905500" cy="590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575" b="0">
                <a:solidFill>
                  <a:srgbClr val="CBD5E1"/>
                </a:solidFill>
                <a:latin typeface="Aptos"/>
                <a:ea typeface="Aptos"/>
                <a:cs typeface="Aptos"/>
              </a:rPr>
              <a:t>OCR extraction, resilient parsing, India-focused merchant categorization, and an interactive spend dashboard in a Django monolith.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9B3B72-7F06-45E2-889C-AFB02D14E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24000"/>
            <a:ext cx="314325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9525">
            <a:solidFill>
              <a:srgbClr val="3B82F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CBEDD3-5781-465E-819D-9BCCDACA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752600"/>
            <a:ext cx="26670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Learning from manual re-categorization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758ED5-DD13-4272-AFFD-4D355F436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47950"/>
            <a:ext cx="314325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9525">
            <a:solidFill>
              <a:srgbClr val="3B82F6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E17662-94A1-4B1A-80CE-E4C276514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76550"/>
            <a:ext cx="26670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More receipt layouts and languages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8DD046-D151-4546-BE8F-F6C202D9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771900"/>
            <a:ext cx="314325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E40AF"/>
          </a:solidFill>
          <a:ln xmlns:a="http://schemas.openxmlformats.org/drawingml/2006/main" w="9525">
            <a:solidFill>
              <a:srgbClr val="3B82F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C4C685-5577-490E-B67E-DA80AE4B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00500"/>
            <a:ext cx="26670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Monthly budgets and alerts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633FE3-625C-415D-862A-823BA6B87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30480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350" b="1">
                <a:solidFill>
                  <a:srgbClr val="06B6D4"/>
                </a:solidFill>
                <a:latin typeface="Aptos"/>
                <a:ea typeface="Aptos"/>
                <a:cs typeface="Aptos"/>
              </a:rPr>
              <a:t>Ready for demo</a:t>
            </a:r>
          </a:p>
        </p:txBody>
      </p:sp>
    </p:spTree>
    <p:extLst>
      <p:ext uri="{BB962C8B-B14F-4D97-AF65-F5344CB8AC3E}">
        <p14:creationId xmlns:p14="http://schemas.microsoft.com/office/powerpoint/2010/main" val="20203202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2026-05-25T06:43:18.8110000Z</dcterms:created>
  <dcterms:modified xsi:type="dcterms:W3CDTF">2026-05-25T06:43:18.8110000Z</dcterms:modified>
</coreProperties>
</file>